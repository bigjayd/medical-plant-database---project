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943600" cy="5943600"/>
          </a:xfrm>
          <a:prstGeom prst="ellipse">
            <a:avLst/>
          </a:prstGeom>
          <a:solidFill>
            <a:srgbClr val="16281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5C8374">
              <a:alpha val="22000"/>
            </a:srgbClr>
          </a:solidFill>
          <a:ln/>
        </p:spPr>
      </p:sp>
      <p:pic>
        <p:nvPicPr>
          <p:cNvPr id="4" name="Image 0" descr="icons/leaf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·  XML/XSD MODELLING  ·  XPATH / XQUERY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828800"/>
            <a:ext cx="9692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Unified XML Schema for Interoperable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Medicinal Plant Databases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04672" y="37947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3,999 plant-phytochemical records across Dr. Duke's, IMPPAT and NMPP-DB into one queryable, schema-validated resource.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5806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Bashiru   ·   Adediran   ·   Adejumo   ·   Ademulure   ·   Adeniyi   ·   Adeosun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04672" y="61447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University of Technology, Akure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Medicinal plant knowledge is scattered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incompatible databases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major resources describe the same underlying concepts — plant identity, phytochemicals, biological activity — with different column names, vocabularies and formats, and no shared identifier scheme.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77240" y="333756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AFC6B8"/>
            </a:solidFill>
            <a:prstDash val="solid"/>
          </a:ln>
          <a:effectLst>
            <a:outerShdw sx="100000" sy="100000" kx="0" ky="0" algn="bl" rotWithShape="0" blurRad="101600" dist="38100" dir="5400000">
              <a:srgbClr val="20332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51560" y="3611880"/>
            <a:ext cx="640080" cy="640080"/>
          </a:xfrm>
          <a:prstGeom prst="ellipse">
            <a:avLst/>
          </a:prstGeom>
          <a:solidFill>
            <a:srgbClr val="1F3A2E"/>
          </a:solidFill>
          <a:ln/>
        </p:spPr>
      </p:sp>
      <p:pic>
        <p:nvPicPr>
          <p:cNvPr id="7" name="Image 0" descr="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7864" y="375818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43891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Kew MPNS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51560" y="47548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Nomenclatural name-resolution service; no bulk species list — an access barrier this study surfaced first-hand.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333756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AFC6B8"/>
            </a:solidFill>
            <a:prstDash val="solid"/>
          </a:ln>
          <a:effectLst>
            <a:outerShdw sx="100000" sy="100000" kx="0" ky="0" algn="bl" rotWithShape="0" blurRad="101600" dist="38100" dir="5400000">
              <a:srgbClr val="203327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3611880"/>
            <a:ext cx="640080" cy="640080"/>
          </a:xfrm>
          <a:prstGeom prst="ellipse">
            <a:avLst/>
          </a:prstGeom>
          <a:solidFill>
            <a:srgbClr val="1F3A2E"/>
          </a:solidFill>
          <a:ln/>
        </p:spPr>
      </p:sp>
      <p:pic>
        <p:nvPicPr>
          <p:cNvPr id="12" name="Image 1" descr="icons/leaf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375818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17720" y="43891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NMPP-DB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17720" y="47548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Nigerian medicinal plants and 2,000+ phytochemicals compiled from peer-reviewed literature.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7909560" y="3337560"/>
            <a:ext cx="32461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AFC6B8"/>
            </a:solidFill>
            <a:prstDash val="solid"/>
          </a:ln>
          <a:effectLst>
            <a:outerShdw sx="100000" sy="100000" kx="0" ky="0" algn="bl" rotWithShape="0" blurRad="101600" dist="38100" dir="5400000">
              <a:srgbClr val="203327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83880" y="3611880"/>
            <a:ext cx="640080" cy="640080"/>
          </a:xfrm>
          <a:prstGeom prst="ellipse">
            <a:avLst/>
          </a:prstGeom>
          <a:solidFill>
            <a:srgbClr val="1F3A2E"/>
          </a:solidFill>
          <a:ln/>
        </p:spPr>
      </p:sp>
      <p:pic>
        <p:nvPicPr>
          <p:cNvPr id="17" name="Image 2" descr="icons/flas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3758184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83880" y="438912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IMPPAT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183880" y="475488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1,742 Indian medicinal plants, 9,596 phytochemicals, curated for therapeutic research.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77724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i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 How can a unified XML schema improve interoperability between global medicinal plant databases — and what does building one reveal about the real obstacles?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sources, one harmonised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were standardised onto 17 controlled fields, concatenated, then deduplicated by source-priority order to keep the richest record for every plant–part–compound triple.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AFC6B8"/>
            </a:solidFill>
            <a:prstDash val="solid"/>
          </a:ln>
          <a:effectLst>
            <a:outerShdw sx="100000" sy="100000" kx="0" ky="0" algn="bl" rotWithShape="0" blurRad="76200" dist="25400" dir="5400000">
              <a:srgbClr val="203327">
                <a:alpha val="15000"/>
              </a:srgbClr>
            </a:outerShdw>
          </a:effectLst>
        </p:spPr>
      </p:sp>
      <p:pic>
        <p:nvPicPr>
          <p:cNvPr id="6" name="Image 0" descr="icons/database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068" y="28072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83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Source Files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37216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Duke's · IMPPAT · NMPP-DB · Combined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108960" y="31089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611880" y="26060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AFC6B8"/>
            </a:solidFill>
            <a:prstDash val="solid"/>
          </a:ln>
          <a:effectLst>
            <a:outerShdw sx="100000" sy="100000" kx="0" ky="0" algn="bl" rotWithShape="0" blurRad="76200" dist="25400" dir="5400000">
              <a:srgbClr val="203327">
                <a:alpha val="15000"/>
              </a:srgbClr>
            </a:outerShdw>
          </a:effectLst>
        </p:spPr>
      </p:sp>
      <p:pic>
        <p:nvPicPr>
          <p:cNvPr id="11" name="Image 1" descr="icons/code_fo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708" y="280720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3383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Standardise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703320" y="37216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controlled fields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5943600" y="31089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446520" y="26060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AFC6B8"/>
            </a:solidFill>
            <a:prstDash val="solid"/>
          </a:ln>
          <a:effectLst>
            <a:outerShdw sx="100000" sy="100000" kx="0" ky="0" algn="bl" rotWithShape="0" blurRad="76200" dist="25400" dir="5400000">
              <a:srgbClr val="203327">
                <a:alpha val="15000"/>
              </a:srgbClr>
            </a:outerShdw>
          </a:effectLst>
        </p:spPr>
      </p:sp>
      <p:pic>
        <p:nvPicPr>
          <p:cNvPr id="16" name="Image 2" descr="icons/search_for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348" y="280720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3383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Dedupe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37960" y="37216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Priority-ordered by richness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8778240" y="310896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9281160" y="2606040"/>
            <a:ext cx="2331720" cy="1554480"/>
          </a:xfrm>
          <a:prstGeom prst="roundRect">
            <a:avLst>
              <a:gd name="adj" fmla="val 5882"/>
            </a:avLst>
          </a:prstGeom>
          <a:solidFill>
            <a:srgbClr val="1F3A2E"/>
          </a:solidFill>
          <a:ln w="12700">
            <a:solidFill>
              <a:srgbClr val="AFC6B8"/>
            </a:solidFill>
            <a:prstDash val="solid"/>
          </a:ln>
          <a:effectLst>
            <a:outerShdw sx="100000" sy="100000" kx="0" ky="0" algn="bl" rotWithShape="0" blurRad="76200" dist="25400" dir="5400000">
              <a:srgbClr val="203327">
                <a:alpha val="15000"/>
              </a:srgbClr>
            </a:outerShdw>
          </a:effectLst>
        </p:spPr>
      </p:sp>
      <p:pic>
        <p:nvPicPr>
          <p:cNvPr id="21" name="Image 3" descr="icons/check_amb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988" y="280720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338328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Dataset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72600" y="372160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3,999 clean records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777240" y="4617720"/>
            <a:ext cx="106070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AFC6B8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051560" y="4773168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deviation:  </a:t>
            </a:r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called for a Kew MPNS + NMPP-DB pairing, but MPNS is a name-validation service, not a bulk-downloadable list. Dr. Duke's and IMPPAT were substituted so a genuinely integrated multi-source dataset could still be produced — reported transparently, not hidden.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XSD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referentially-enforced XML schema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6035040" cy="1371600"/>
          </a:xfrm>
          <a:prstGeom prst="roundRect">
            <a:avLst>
              <a:gd name="adj" fmla="val 5333"/>
            </a:avLst>
          </a:prstGeom>
          <a:solidFill>
            <a:srgbClr val="1F3A2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3852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MedicinalPlants (root)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 [id, name, family, origin]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Phytochemicals/Phytochemical  @ref  →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788920" y="331012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xs:key / xs:keyref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i="1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312724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98A2C"/>
                </a:solidFill>
              </a:rPr>
              <a:t>⇅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3977640"/>
            <a:ext cx="6035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AFC6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08736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PhytochemicalLibrary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443484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Phytochemical  [id, name, CAS, Activity]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05840" y="47548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 [DOI, year]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178040" y="1828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Validation, run for real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78040" y="2286000"/>
            <a:ext cx="420624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plant.xml validates cleanly against plant.xsd — the conceptual model is internally consistent.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Plant @ref resolves to a real PhytochemicalLibrary @id — integrity genuinely enforced, not just declared.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flat 3,999-record export uses a second vocabulary that does not yet validate against plant.xsd — flagged as follow-up work, not hidden.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THE INTEGRATED DATASET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harmonised pipeline produced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6281F"/>
          </a:solidFill>
          <a:ln w="12700">
            <a:solidFill>
              <a:srgbClr val="5C837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22199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3,999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30632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20440" y="19659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6281F"/>
          </a:solidFill>
          <a:ln w="12700">
            <a:solidFill>
              <a:srgbClr val="5C83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222199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30632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6281F"/>
          </a:solidFill>
          <a:ln w="12700">
            <a:solidFill>
              <a:srgbClr val="5C83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22199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2,194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263640" y="30632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phytochemicals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06840" y="1965960"/>
            <a:ext cx="2514600" cy="1828800"/>
          </a:xfrm>
          <a:prstGeom prst="roundRect">
            <a:avLst>
              <a:gd name="adj" fmla="val 5000"/>
            </a:avLst>
          </a:prstGeom>
          <a:solidFill>
            <a:srgbClr val="16281F"/>
          </a:solidFill>
          <a:ln w="12700">
            <a:solidFill>
              <a:srgbClr val="5C837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06840" y="2221992"/>
            <a:ext cx="2514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98A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06840" y="3063240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Botanical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160520"/>
            <a:ext cx="10607040" cy="1965960"/>
          </a:xfrm>
          <a:prstGeom prst="roundRect">
            <a:avLst>
              <a:gd name="adj" fmla="val 4651"/>
            </a:avLst>
          </a:prstGeom>
          <a:solidFill>
            <a:srgbClr val="16281F"/>
          </a:solidFill>
          <a:ln w="12700">
            <a:solidFill>
              <a:srgbClr val="5C837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159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completeness is uneven — and that's a real finding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7548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Species, family, part and phytochemical fields:  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~100% complete
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activity of plant extract:  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94.8% missing  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Dosage:  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78.5% missing   </a:t>
            </a:r>
            <a:pPr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Phytochemical class:  </a:t>
            </a:r>
            <a:pPr indent="0" marL="0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78.0% missing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FINDINGS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Ginger dominates; a few hub species</a:t>
            </a:r>
            <a:endParaRPr lang="en-US" sz="2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hub compounds drive the network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AFC6B8"/>
            </a:solidFill>
            <a:prstDash val="solid"/>
          </a:ln>
          <a:effectLst>
            <a:outerShdw sx="100000" sy="100000" kx="0" ky="0" algn="bl" rotWithShape="0" blurRad="76200" dist="25400" dir="5400000">
              <a:srgbClr val="203327">
                <a:alpha val="15000"/>
              </a:srgbClr>
            </a:outerShdw>
          </a:effectLst>
        </p:spPr>
      </p:sp>
      <p:pic>
        <p:nvPicPr>
          <p:cNvPr id="5" name="Image 0" descr="img/figure_1_compounds_per_pla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2194560"/>
            <a:ext cx="4983480" cy="2880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51206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Zingiber officinale (ginger) leads with 652 unique compounds, followed by Nicotiana tabacum (374) and Carica papaya (292).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172200" y="2057400"/>
            <a:ext cx="52578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AFC6B8"/>
            </a:solidFill>
            <a:prstDash val="solid"/>
          </a:ln>
          <a:effectLst>
            <a:outerShdw sx="100000" sy="100000" kx="0" ky="0" algn="bl" rotWithShape="0" blurRad="76200" dist="25400" dir="5400000">
              <a:srgbClr val="203327">
                <a:alpha val="15000"/>
              </a:srgbClr>
            </a:outerShdw>
          </a:effectLst>
        </p:spPr>
      </p:sp>
      <p:pic>
        <p:nvPicPr>
          <p:cNvPr id="8" name="Image 1" descr="img/figure_3_network_top20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355080" y="2194560"/>
            <a:ext cx="4892040" cy="2880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55080" y="512064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Bipartite plant–compound network, top 20 species: star-like structure around a few chemically prolific hub species.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83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STATISTICAL TESTS &amp; LIMITS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86868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Significant, but small — and one</a:t>
            </a:r>
            <a:endParaRPr lang="en-US" sz="2400" dirty="0"/>
          </a:p>
          <a:p>
            <a:pPr indent="0" marL="0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couldn't be completed as specified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214884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AFC6B8"/>
            </a:solidFill>
            <a:prstDash val="solid"/>
          </a:ln>
          <a:effectLst>
            <a:outerShdw sx="100000" sy="100000" kx="0" ky="0" algn="bl" rotWithShape="0" blurRad="76200" dist="25400" dir="5400000">
              <a:srgbClr val="203327">
                <a:alpha val="15000"/>
              </a:srgbClr>
            </a:outerShdw>
          </a:effectLst>
        </p:spPr>
      </p:sp>
      <p:pic>
        <p:nvPicPr>
          <p:cNvPr id="5" name="Image 0" descr="icons/chart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774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Chi-square: family × anti-inflammatory tag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3017520"/>
            <a:ext cx="46634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χ²(7, N=3,376) = 17.82,  p = .013</a:t>
            </a:r>
            <a:endParaRPr lang="en-US" sz="1150" dirty="0"/>
          </a:p>
          <a:p>
            <a:pPr indent="0" marL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Cramér's V = 0.073  →  statistically significant, but a small effect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Zingiberaceae (7.3%) and Solanaceae (8.5%) show the highest tagged rates; Fabaceae the lowest (1.5%). With 70.5% of activity fields missing, this reflects reporting patterns as much as biology.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214884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1F3A2E"/>
          </a:solidFill>
          <a:ln/>
        </p:spPr>
      </p:sp>
      <p:pic>
        <p:nvPicPr>
          <p:cNvPr id="9" name="Image 1" descr="icons/search_amb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3774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4088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Jaccard overlap: not computable as specified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6537960" y="3017520"/>
            <a:ext cx="457200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bulk, machine-readable Kew MPNS species list was obtainable — MPNS validates names, it doesn't publish a downloadable master list.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as a documented access-layer limitation, not smoothed over or faked with a placeholder result.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6281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CONCLUSION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schema is necessary, but not</a:t>
            </a:r>
            <a:endParaRPr lang="en-US" sz="28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sufficient, for interoperability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validated XSD harmonised 3,999 real records into one queryable resource and supported analyses the four original spreadsheets could not — while surfacing three concrete, reproducible barriers: internal schema drift, free-text vocabulary inconsistency, and a data-access barrier at Kew MPNS.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3383280"/>
            <a:ext cx="365760" cy="36576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3355848"/>
            <a:ext cx="7178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bulk, versioned, machine-readable exports alongside interactive validation services.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4041648"/>
            <a:ext cx="365760" cy="36576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4014216"/>
            <a:ext cx="7178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shared controlled vocabularies for activity and therapeutic-class annotation.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4700016"/>
            <a:ext cx="365760" cy="365760"/>
          </a:xfrm>
          <a:prstGeom prst="ellipse">
            <a:avLst/>
          </a:prstGeom>
          <a:solidFill>
            <a:srgbClr val="C98A2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700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4672584"/>
            <a:ext cx="7178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XML Schema as an enforced contract in the data pipeline — not just documentation.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69680" y="2194560"/>
            <a:ext cx="2514600" cy="3977640"/>
          </a:xfrm>
          <a:prstGeom prst="roundRect">
            <a:avLst>
              <a:gd name="adj" fmla="val 3636"/>
            </a:avLst>
          </a:prstGeom>
          <a:solidFill>
            <a:srgbClr val="16281F"/>
          </a:solidFill>
          <a:ln w="12700">
            <a:solidFill>
              <a:srgbClr val="5C8374"/>
            </a:solidFill>
            <a:prstDash val="solid"/>
          </a:ln>
        </p:spPr>
      </p:sp>
      <p:pic>
        <p:nvPicPr>
          <p:cNvPr id="16" name="Image 0" descr="icons/check_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0" y="2423160"/>
            <a:ext cx="457200" cy="4572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006840" y="2971800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Reproducible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052560" y="333756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data and schema version-controlled on GitHub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9006840" y="53949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github.com/Bigjayd/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Medical-Plant-Database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7724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 ·  FUTA  ·  IFS/CSC Group Assessment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2026-08-01T11:01:30Z</dcterms:created>
  <dcterms:modified xsi:type="dcterms:W3CDTF">2026-08-01T11:01:30Z</dcterms:modified>
</cp:coreProperties>
</file>